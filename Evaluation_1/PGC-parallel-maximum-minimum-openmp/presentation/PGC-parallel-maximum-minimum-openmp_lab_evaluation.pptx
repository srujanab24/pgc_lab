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544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Parallel Maximum/Minimum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Using OpenMP</a:t>
            </a:r>
          </a:p>
          <a:p>
            <a:pPr algn="ctr">
              <a:defRPr sz="2000"/>
            </a:pPr>
            <a:r>
              <a:t>Parallel Computing Lab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Find the maximum and minimum values in a large integer dataset.</a:t>
            </a:r>
          </a:p>
          <a:p>
            <a:pPr>
              <a:spcAft>
                <a:spcPts val="1000"/>
              </a:spcAft>
              <a:defRPr sz="2000"/>
            </a:pPr>
            <a:r>
              <a:t>Implement a sequential solution as the baseline.</a:t>
            </a:r>
          </a:p>
          <a:p>
            <a:pPr>
              <a:spcAft>
                <a:spcPts val="1000"/>
              </a:spcAft>
              <a:defRPr sz="2000"/>
            </a:pPr>
            <a:r>
              <a:t>Implement a parallel solution using OpenMP threads.</a:t>
            </a:r>
          </a:p>
          <a:p>
            <a:pPr>
              <a:spcAft>
                <a:spcPts val="1000"/>
              </a:spcAft>
              <a:defRPr sz="2000"/>
            </a:pPr>
            <a:r>
              <a:t>Measure execution time for different numbers of threads.</a:t>
            </a:r>
          </a:p>
          <a:p>
            <a:pPr>
              <a:spcAft>
                <a:spcPts val="1000"/>
              </a:spcAft>
              <a:defRPr sz="2000"/>
            </a:pPr>
            <a:r>
              <a:t>Study the effect of different data sizes.</a:t>
            </a:r>
          </a:p>
          <a:p>
            <a:pPr>
              <a:spcAft>
                <a:spcPts val="1000"/>
              </a:spcAft>
              <a:defRPr sz="2000"/>
            </a:pPr>
            <a:r>
              <a:t>Calculate speedup and 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Implement maximum/minimum search using C.</a:t>
            </a:r>
          </a:p>
          <a:p>
            <a:pPr>
              <a:spcAft>
                <a:spcPts val="1000"/>
              </a:spcAft>
              <a:defRPr sz="2000"/>
            </a:pPr>
            <a:r>
              <a:t>Use OpenMP for shared-memory parallel execution.</a:t>
            </a:r>
          </a:p>
          <a:p>
            <a:pPr>
              <a:spcAft>
                <a:spcPts val="1000"/>
              </a:spcAft>
              <a:defRPr sz="2000"/>
            </a:pPr>
            <a:r>
              <a:t>Use OpenMP reduction for minimum and maximum values.</a:t>
            </a:r>
          </a:p>
          <a:p>
            <a:pPr>
              <a:spcAft>
                <a:spcPts val="1000"/>
              </a:spcAft>
              <a:defRPr sz="2000"/>
            </a:pPr>
            <a:r>
              <a:t>Compare sequential and parallel execution time.</a:t>
            </a:r>
          </a:p>
          <a:p>
            <a:pPr>
              <a:spcAft>
                <a:spcPts val="1000"/>
              </a:spcAft>
              <a:defRPr sz="2000"/>
            </a:pPr>
            <a:r>
              <a:t>Test 1, 2, 4 and 8 threads.</a:t>
            </a:r>
          </a:p>
          <a:p>
            <a:pPr>
              <a:spcAft>
                <a:spcPts val="1000"/>
              </a:spcAft>
              <a:defRPr sz="2000"/>
            </a:pPr>
            <a:r>
              <a:t>Test 1M, 5M and 10M data sizes.</a:t>
            </a:r>
          </a:p>
          <a:p>
            <a:pPr>
              <a:spcAft>
                <a:spcPts val="1000"/>
              </a:spcAft>
              <a:defRPr sz="2000"/>
            </a:pPr>
            <a:r>
              <a:t>Generate graphs and analyze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Tools and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Programming Language: C</a:t>
            </a:r>
          </a:p>
          <a:p>
            <a:pPr>
              <a:spcAft>
                <a:spcPts val="1000"/>
              </a:spcAft>
              <a:defRPr sz="2000"/>
            </a:pPr>
            <a:r>
              <a:t>Parallel Model: OpenMP</a:t>
            </a:r>
          </a:p>
          <a:p>
            <a:pPr>
              <a:spcAft>
                <a:spcPts val="1000"/>
              </a:spcAft>
              <a:defRPr sz="2000"/>
            </a:pPr>
            <a:r>
              <a:t>Compiler: GCC</a:t>
            </a:r>
          </a:p>
          <a:p>
            <a:pPr>
              <a:spcAft>
                <a:spcPts val="1000"/>
              </a:spcAft>
              <a:defRPr sz="2000"/>
            </a:pPr>
            <a:r>
              <a:t>Operating Environment: Ubuntu on WSL2</a:t>
            </a:r>
          </a:p>
          <a:p>
            <a:pPr>
              <a:spcAft>
                <a:spcPts val="1000"/>
              </a:spcAft>
              <a:defRPr sz="2000"/>
            </a:pPr>
            <a:r>
              <a:t>Timing Function: omp_get_wtime()</a:t>
            </a:r>
          </a:p>
          <a:p>
            <a:pPr>
              <a:spcAft>
                <a:spcPts val="1000"/>
              </a:spcAft>
              <a:defRPr sz="2000"/>
            </a:pPr>
            <a:r>
              <a:t>Graph Generation: Python and Matplotlib</a:t>
            </a:r>
          </a:p>
          <a:p>
            <a:pPr>
              <a:spcAft>
                <a:spcPts val="1000"/>
              </a:spcAft>
              <a:defRPr sz="2000"/>
            </a:pPr>
            <a:r>
              <a:t>Version Control: Git and GitHub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Sequential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Generate the dataset using a fixed random seed.</a:t>
            </a:r>
          </a:p>
          <a:p>
            <a:pPr>
              <a:spcAft>
                <a:spcPts val="1000"/>
              </a:spcAft>
              <a:defRPr sz="1800"/>
            </a:pPr>
            <a:r>
              <a:t>Initialize minimum to INT_MAX.</a:t>
            </a:r>
          </a:p>
          <a:p>
            <a:pPr>
              <a:spcAft>
                <a:spcPts val="1000"/>
              </a:spcAft>
              <a:defRPr sz="1800"/>
            </a:pPr>
            <a:r>
              <a:t>Initialize maximum to INT_MIN.</a:t>
            </a:r>
          </a:p>
          <a:p>
            <a:pPr>
              <a:spcAft>
                <a:spcPts val="1000"/>
              </a:spcAft>
              <a:defRPr sz="1800"/>
            </a:pPr>
            <a:r>
              <a:t>Traverse every element of the dataset.</a:t>
            </a:r>
          </a:p>
          <a:p>
            <a:pPr>
              <a:spcAft>
                <a:spcPts val="1000"/>
              </a:spcAft>
              <a:defRPr sz="1800"/>
            </a:pPr>
            <a:r>
              <a:t>Update minimum if the current value is smaller.</a:t>
            </a:r>
          </a:p>
          <a:p>
            <a:pPr>
              <a:spcAft>
                <a:spcPts val="1000"/>
              </a:spcAft>
              <a:defRPr sz="1800"/>
            </a:pPr>
            <a:r>
              <a:t>Update maximum if the current value is larger.</a:t>
            </a:r>
          </a:p>
          <a:p>
            <a:pPr>
              <a:spcAft>
                <a:spcPts val="1000"/>
              </a:spcAft>
              <a:defRPr sz="1800"/>
            </a:pPr>
            <a:r>
              <a:t>Measure the execution time of the search loop.</a:t>
            </a:r>
          </a:p>
          <a:p>
            <a:pPr>
              <a:spcAft>
                <a:spcPts val="1000"/>
              </a:spcAft>
              <a:defRPr sz="1800"/>
            </a:pPr>
            <a:r>
              <a:t>Time Complexity: O(N).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Parallel Design using OpenMP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The dataset is divided among OpenMP threads.</a:t>
            </a:r>
          </a:p>
          <a:p>
            <a:pPr>
              <a:spcAft>
                <a:spcPts val="1000"/>
              </a:spcAft>
              <a:defRPr sz="1700"/>
            </a:pPr>
            <a:r>
              <a:t>Each thread examines its assigned portion of the array.</a:t>
            </a:r>
          </a:p>
          <a:p>
            <a:pPr>
              <a:spcAft>
                <a:spcPts val="1000"/>
              </a:spcAft>
              <a:defRPr sz="1700"/>
            </a:pPr>
            <a:r>
              <a:t>Each thread calculates local minimum and maximum values.</a:t>
            </a:r>
          </a:p>
          <a:p>
            <a:pPr>
              <a:spcAft>
                <a:spcPts val="1000"/>
              </a:spcAft>
              <a:defRPr sz="1700"/>
            </a:pPr>
            <a:r>
              <a:t>OpenMP reduction combines the local minimum values.</a:t>
            </a:r>
          </a:p>
          <a:p>
            <a:pPr>
              <a:spcAft>
                <a:spcPts val="1000"/>
              </a:spcAft>
              <a:defRPr sz="1700"/>
            </a:pPr>
            <a:r>
              <a:t>OpenMP reduction combines the local maximum values.</a:t>
            </a:r>
          </a:p>
          <a:p>
            <a:pPr>
              <a:spcAft>
                <a:spcPts val="1000"/>
              </a:spcAft>
              <a:defRPr sz="1700"/>
            </a:pPr>
            <a:r>
              <a:t>The final values represent the global minimum and maximum.</a:t>
            </a:r>
          </a:p>
          <a:p>
            <a:pPr>
              <a:spcAft>
                <a:spcPts val="1000"/>
              </a:spcAft>
              <a:defRPr sz="1700"/>
            </a:pPr>
            <a:r>
              <a:t>Directive used:</a:t>
            </a:r>
          </a:p>
          <a:p>
            <a:pPr>
              <a:spcAft>
                <a:spcPts val="1000"/>
              </a:spcAft>
              <a:defRPr sz="1700"/>
            </a:pPr>
            <a:r>
              <a:t>#pragma omp parallel for reduction(min:minimum) reduction(max:maximum)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Dataset and 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Dataset contains random integers from 1 to 1,000,000.</a:t>
            </a:r>
          </a:p>
          <a:p>
            <a:pPr>
              <a:spcAft>
                <a:spcPts val="1000"/>
              </a:spcAft>
              <a:defRPr sz="1800"/>
            </a:pPr>
            <a:r>
              <a:t>Random seed = 42.</a:t>
            </a:r>
          </a:p>
          <a:p>
            <a:pPr>
              <a:spcAft>
                <a:spcPts val="1000"/>
              </a:spcAft>
              <a:defRPr sz="1800"/>
            </a:pPr>
            <a:r>
              <a:t>Default dataset size = 10,000,000 elements.</a:t>
            </a:r>
          </a:p>
          <a:p>
            <a:pPr>
              <a:spcAft>
                <a:spcPts val="1000"/>
              </a:spcAft>
              <a:defRPr sz="1800"/>
            </a:pPr>
            <a:r>
              <a:t>Thread counts tested = 1, 2, 4 and 8.</a:t>
            </a:r>
          </a:p>
          <a:p>
            <a:pPr>
              <a:spcAft>
                <a:spcPts val="1000"/>
              </a:spcAft>
              <a:defRPr sz="1800"/>
            </a:pPr>
            <a:r>
              <a:t>Additional data sizes = 1,000,000; 5,000,000; 10,000,000.</a:t>
            </a:r>
          </a:p>
          <a:p>
            <a:pPr>
              <a:spcAft>
                <a:spcPts val="1000"/>
              </a:spcAft>
              <a:defRPr sz="1800"/>
            </a:pPr>
            <a:r>
              <a:t>All runs produced Minimum = 1 and Maximum = 1,000,000.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Sequential Baseline Result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103327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  <a:gridCol w="2583180"/>
                <a:gridCol w="258318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700" b="1"/>
                      </a:pPr>
                      <a:r>
                        <a:t>Data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700" b="1"/>
                      </a:pPr>
                      <a:r>
                        <a:t>Minimum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700" b="1"/>
                      </a:pPr>
                      <a:r>
                        <a:t>Maximum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700" b="1"/>
                      </a:pPr>
                      <a:r>
                        <a:t>Execution Time (s)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700"/>
                      </a:pPr>
                      <a:r>
                        <a:t>10,000,000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700"/>
                      </a:pPr>
                      <a:r>
                        <a:t>1,000,000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700"/>
                      </a:pPr>
                      <a:r>
                        <a:t>0.004681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77240" y="3657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The sequential result is used as the baseline for speedup.</a:t>
            </a:r>
          </a:p>
          <a:p>
            <a:pPr>
              <a:spcAft>
                <a:spcPts val="1000"/>
              </a:spcAft>
              <a:defRPr sz="1800"/>
            </a:pPr>
            <a:r>
              <a:t>The measured time is for the maximum/minimum search loop.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Thread Scaling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280160" y="1371600"/>
          <a:ext cx="9601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32004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Threads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Data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Execution Time (s)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10,000,000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0.007940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10,000,000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0.007246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10,000,000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0.007538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10,000,000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0.005069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77240" y="53035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Minimum = 1 and Maximum = 1,000,000 for all runs.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Data Size Results — 8 Threads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4592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Data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Threads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Minimum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Maximum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Execution Time (s)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0.001475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0.003315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0.008019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77240" y="4846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Execution time increases as the data size increases.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Speedup and Efficiency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Threads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Sequential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Parallel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Speedup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Efficiency (%)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0.004681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0.007940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0.5895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58.95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0.004681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0.007246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0.6460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32.30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0.004681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0.007538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0.6210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15.52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0.004681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0.005069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0.9235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11.54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77240" y="52120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Speedup = Sequential Time / Parallel Time.</a:t>
            </a:r>
          </a:p>
          <a:p>
            <a:pPr>
              <a:spcAft>
                <a:spcPts val="1000"/>
              </a:spcAft>
              <a:defRPr sz="1600"/>
            </a:pPr>
            <a:r>
              <a:t>Efficiency = (Speedup / Number of Threads) × 100.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Result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The lowest measured parallel execution time was obtained with 8 threads.</a:t>
            </a:r>
          </a:p>
          <a:p>
            <a:pPr>
              <a:spcAft>
                <a:spcPts val="1000"/>
              </a:spcAft>
              <a:defRPr sz="1700"/>
            </a:pPr>
            <a:r>
              <a:t>The speedup is below 1 for the measured runs.</a:t>
            </a:r>
          </a:p>
          <a:p>
            <a:pPr>
              <a:spcAft>
                <a:spcPts val="1000"/>
              </a:spcAft>
              <a:defRPr sz="1700"/>
            </a:pPr>
            <a:r>
              <a:t>The maximum/minimum search performs very little computation per element.</a:t>
            </a:r>
          </a:p>
          <a:p>
            <a:pPr>
              <a:spcAft>
                <a:spcPts val="1000"/>
              </a:spcAft>
              <a:defRPr sz="1700"/>
            </a:pPr>
            <a:r>
              <a:t>OpenMP introduces thread management, scheduling and reduction overhead.</a:t>
            </a:r>
          </a:p>
          <a:p>
            <a:pPr>
              <a:spcAft>
                <a:spcPts val="1000"/>
              </a:spcAft>
              <a:defRPr sz="1700"/>
            </a:pPr>
            <a:r>
              <a:t>For this workload, the overhead is significant compared with the short sequential computation.</a:t>
            </a:r>
          </a:p>
          <a:p>
            <a:pPr>
              <a:spcAft>
                <a:spcPts val="1000"/>
              </a:spcAft>
              <a:defRPr sz="1700"/>
            </a:pPr>
            <a:r>
              <a:t>Execution time increases when the number of data elements increases.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Graph — Execution Time vs Threads</a:t>
            </a:r>
          </a:p>
        </p:txBody>
      </p:sp>
      <p:pic>
        <p:nvPicPr>
          <p:cNvPr id="3" name="Picture 2" descr="execution_time_vs_threads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34440"/>
            <a:ext cx="10058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Graph — Speedup vs Threads</a:t>
            </a:r>
          </a:p>
        </p:txBody>
      </p:sp>
      <p:pic>
        <p:nvPicPr>
          <p:cNvPr id="3" name="Picture 2" descr="speedup_vs_threads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34440"/>
            <a:ext cx="10058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14. Graph — Execution Time vs Data Size</a:t>
            </a:r>
          </a:p>
        </p:txBody>
      </p:sp>
      <p:pic>
        <p:nvPicPr>
          <p:cNvPr id="3" name="Picture 2" descr="execution_time_vs_data_size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34440"/>
            <a:ext cx="10058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15. Lab Evaluation Checkpoints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Checkpoint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Completed Work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Problem definition, sequential algorithm and parallel design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Working OpenMP implementation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Different thread counts and data sizes tested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Graphs, speedup, efficiency and analysis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Final demonstration and technical viva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16. GitHub 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PGC-parallel-maximum-minimum-openmp/</a:t>
            </a:r>
          </a:p>
          <a:p>
            <a:pPr>
              <a:spcAft>
                <a:spcPts val="1000"/>
              </a:spcAft>
              <a:defRPr sz="1800"/>
            </a:pPr>
            <a:r>
              <a:t>├── README.md</a:t>
            </a:r>
          </a:p>
          <a:p>
            <a:pPr>
              <a:spcAft>
                <a:spcPts val="1000"/>
              </a:spcAft>
              <a:defRPr sz="1800"/>
            </a:pPr>
            <a:r>
              <a:t>├── src/ — C source files</a:t>
            </a:r>
          </a:p>
          <a:p>
            <a:pPr>
              <a:spcAft>
                <a:spcPts val="1000"/>
              </a:spcAft>
              <a:defRPr sz="1800"/>
            </a:pPr>
            <a:r>
              <a:t>├── results/ — CSV results and analysis</a:t>
            </a:r>
          </a:p>
          <a:p>
            <a:pPr>
              <a:spcAft>
                <a:spcPts val="1000"/>
              </a:spcAft>
              <a:defRPr sz="1800"/>
            </a:pPr>
            <a:r>
              <a:t>├── graphs/ — generated performance graphs</a:t>
            </a:r>
          </a:p>
          <a:p>
            <a:pPr>
              <a:spcAft>
                <a:spcPts val="1000"/>
              </a:spcAft>
              <a:defRPr sz="1800"/>
            </a:pPr>
            <a:r>
              <a:t>├── screenshots/ — experiment evidence</a:t>
            </a:r>
          </a:p>
          <a:p>
            <a:pPr>
              <a:spcAft>
                <a:spcPts val="1000"/>
              </a:spcAft>
              <a:defRPr sz="1800"/>
            </a:pPr>
            <a:r>
              <a:t>├── generate_graphs.py</a:t>
            </a:r>
          </a:p>
          <a:p>
            <a:pPr>
              <a:spcAft>
                <a:spcPts val="1000"/>
              </a:spcAft>
              <a:defRPr sz="1800"/>
            </a:pPr>
            <a:r>
              <a:t>└── presentation/ — lab evaluation PPT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17.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Maximum and minimum search was implemented using sequential C and OpenMP.</a:t>
            </a:r>
          </a:p>
          <a:p>
            <a:pPr>
              <a:spcAft>
                <a:spcPts val="1000"/>
              </a:spcAft>
              <a:defRPr sz="1800"/>
            </a:pPr>
            <a:r>
              <a:t>OpenMP reduction was used to combine minimum and maximum values safely.</a:t>
            </a:r>
          </a:p>
          <a:p>
            <a:pPr>
              <a:spcAft>
                <a:spcPts val="1000"/>
              </a:spcAft>
              <a:defRPr sz="1800"/>
            </a:pPr>
            <a:r>
              <a:t>The experiment studied thread scaling and data-size scaling.</a:t>
            </a:r>
          </a:p>
          <a:p>
            <a:pPr>
              <a:spcAft>
                <a:spcPts val="1000"/>
              </a:spcAft>
              <a:defRPr sz="1800"/>
            </a:pPr>
            <a:r>
              <a:t>Speedup and efficiency were calculated from measured execution times.</a:t>
            </a:r>
          </a:p>
          <a:p>
            <a:pPr>
              <a:spcAft>
                <a:spcPts val="1000"/>
              </a:spcAft>
              <a:defRPr sz="1800"/>
            </a:pPr>
            <a:r>
              <a:t>The results demonstrate that parallel overhead can dominate a simple workload.</a:t>
            </a:r>
          </a:p>
          <a:p>
            <a:pPr>
              <a:spcAft>
                <a:spcPts val="1000"/>
              </a:spcAft>
              <a:defRPr sz="1800"/>
            </a:pPr>
            <a:r>
              <a:t>The complete experiment is organized in the GitHub project.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18. Technical Viva — Key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Why OpenMP? — It provides shared-memory parallelism using compiler directives.</a:t>
            </a:r>
          </a:p>
          <a:p>
            <a:pPr>
              <a:spcAft>
                <a:spcPts val="1000"/>
              </a:spcAft>
              <a:defRPr sz="1600"/>
            </a:pPr>
            <a:r>
              <a:t>Why reduction? — It combines thread-local minimum and maximum values safely.</a:t>
            </a:r>
          </a:p>
          <a:p>
            <a:pPr>
              <a:spcAft>
                <a:spcPts val="1000"/>
              </a:spcAft>
              <a:defRPr sz="1600"/>
            </a:pPr>
            <a:r>
              <a:t>Why can speedup be below 1? — Parallel overhead can exceed the benefit for a small computation.</a:t>
            </a:r>
          </a:p>
          <a:p>
            <a:pPr>
              <a:spcAft>
                <a:spcPts val="1000"/>
              </a:spcAft>
              <a:defRPr sz="1600"/>
            </a:pPr>
            <a:r>
              <a:t>Time complexity? — O(N), because every element must be examined.</a:t>
            </a:r>
          </a:p>
          <a:p>
            <a:pPr>
              <a:spcAft>
                <a:spcPts val="1000"/>
              </a:spcAft>
              <a:defRPr sz="1600"/>
            </a:pPr>
            <a:r>
              <a:t>What happens with more threads? — Work is divided among threads, but parallel overhead also exists.</a:t>
            </a:r>
          </a:p>
          <a:p>
            <a:pPr>
              <a:spcAft>
                <a:spcPts val="1000"/>
              </a:spcAft>
              <a:defRPr sz="1600"/>
            </a:pPr>
            <a:r>
              <a:t>How was correctness verified? — Minimum and maximum values were checked for every experiment.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t>Thank You</a:t>
            </a:r>
          </a:p>
          <a:p>
            <a:pPr algn="ctr">
              <a:defRPr sz="24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